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5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CSE-Cyber Security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10211CC224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24-04-2026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err="1">
                <a:solidFill>
                  <a:srgbClr val="0033CC"/>
                </a:solidFill>
              </a:rPr>
              <a:t>CryptoVault</a:t>
            </a:r>
            <a:r>
              <a:rPr lang="en-IN" sz="3200" b="1" dirty="0">
                <a:solidFill>
                  <a:srgbClr val="0033CC"/>
                </a:solidFill>
              </a:rPr>
              <a:t>: Enterprise-Grade Secure Storage System with AES Cryptography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 JEVIN THANGA RAJA– VTU24512 – 23UESS0028.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Shahul Hameed C- 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In the digital era, files are often stored without proper security, leading to data risks.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Sensitive information like documents and images require protection from unauthorized access.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This project is important to ensure secure file storage and safe data handling.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The system provides secure upload and download functionality through REST APIs.</a:t>
            </a:r>
            <a:endParaRPr lang="en-US" sz="2800" dirty="0"/>
          </a:p>
          <a:p>
            <a:r>
              <a:rPr lang="en-US" sz="2800" dirty="0"/>
              <a:t>This project is highly relevant in industries such as healthcare, legal, and banking, where secure file storage is mandatory for compliance and data protection.</a:t>
            </a:r>
            <a:r>
              <a:rPr lang="en-IN" sz="2800" dirty="0"/>
              <a:t> Provide a highly secure, encrypted environment for personal file storage</a:t>
            </a:r>
          </a:p>
          <a:p>
            <a:r>
              <a:rPr lang="en-IN" sz="2800" dirty="0"/>
              <a:t>Enable flexible subscription models and compliance features</a:t>
            </a:r>
          </a:p>
          <a:p>
            <a:endParaRPr lang="en-IN" sz="2800" b="1" dirty="0"/>
          </a:p>
          <a:p>
            <a:r>
              <a:rPr lang="en-IN" sz="2800" b="1" dirty="0"/>
              <a:t>Key Features:</a:t>
            </a:r>
            <a:endParaRPr lang="en-IN" sz="2800" dirty="0"/>
          </a:p>
          <a:p>
            <a:r>
              <a:rPr lang="en-IN" sz="2800" b="1" dirty="0"/>
              <a:t>Client-side AES-128 Encryption</a:t>
            </a:r>
            <a:r>
              <a:rPr lang="en-IN" sz="2800" dirty="0"/>
              <a:t> - Files encrypted on user's device</a:t>
            </a:r>
          </a:p>
          <a:p>
            <a:r>
              <a:rPr lang="en-IN" sz="2800" b="1" dirty="0"/>
              <a:t>Multi-tier Subscription Model</a:t>
            </a:r>
            <a:r>
              <a:rPr lang="en-IN" sz="2800" dirty="0"/>
              <a:t> - Weekly, Monthly, Annual plans</a:t>
            </a:r>
          </a:p>
          <a:p>
            <a:r>
              <a:rPr lang="en-IN" sz="2800" b="1" dirty="0"/>
              <a:t>Mandatory Identity Verification (KYC)</a:t>
            </a:r>
            <a:r>
              <a:rPr lang="en-IN" sz="2800" dirty="0"/>
              <a:t> - Compliance and security</a:t>
            </a:r>
          </a:p>
          <a:p>
            <a:r>
              <a:rPr lang="en-IN" sz="2800" b="1" dirty="0"/>
              <a:t>Centralized Administrative Oversight</a:t>
            </a:r>
            <a:r>
              <a:rPr lang="en-IN" sz="2800" dirty="0"/>
              <a:t> - Real-time monitoring and control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194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Sensitive files stored on local servers are typically saved as plain text or without encryption, making them vulnerable to unauthorized access, data breaches, and insider threats.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There is no standard mechanism in basic Spring Boot applications to automatically encrypt files during upload and decrypt them during download, leaving a critical security gap.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Developers need a beginner-friendly, well-structured reference implementation that demonstrates secure file handling with AES encryption in a real-world Java Spring Boot project.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Without proper file metadata management, retrieving the correct encrypted file and its original filename becomes unreliable, degrading user experience and system integrity.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54166" y="166273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To design and develop: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 secure file storage system using Spring Boot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 REST API for file upload and download </a:t>
            </a:r>
            <a:br>
              <a:rPr lang="en-GB" sz="2800" dirty="0"/>
            </a:br>
            <a:endParaRPr lang="en-GB" sz="2800" dirty="0"/>
          </a:p>
          <a:p>
            <a:r>
              <a:rPr lang="en-GB" sz="2800" b="1" dirty="0"/>
              <a:t>To implement: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File encryption using AES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Database storage using MySQL for file metadata </a:t>
            </a:r>
          </a:p>
          <a:p>
            <a:endParaRPr lang="en-GB" sz="2800" dirty="0"/>
          </a:p>
          <a:p>
            <a:r>
              <a:rPr lang="en-GB" sz="2800" b="1" dirty="0"/>
              <a:t>To improve: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Data confidentiality and protection against unauthorized access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Efficient file management and retrieval </a:t>
            </a:r>
          </a:p>
          <a:p>
            <a:endParaRPr lang="en-GB" sz="2800" dirty="0"/>
          </a:p>
          <a:p>
            <a:r>
              <a:rPr lang="en-GB" sz="2800" b="1" dirty="0"/>
              <a:t>To evaluate performance of: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Encryption and decryption process efficiency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System performance during file upload and download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6183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CryptoVault is a Spring Boot application with RESTful endpoints for secure file upload and download.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Files are encrypted using AES-128 symmetric encryption via a dedicated AESUtil utility class before being saved to the uploads/ directory.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Encrypted files are stored on the local filesystem, and their metadata (name, path, size, timestamp) is saved in a MySQL database via Spring Data JPA.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On download, the system retrieves file metadata by ID, reads the encrypted file from disk, decrypts it, and streams the original file bytes to the client.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Layered architecture ensures separation of concerns and clean, maintainable code.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Global exception handling ensures meaningful error messages for scenarios like file-not-found or decryption failure.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The system is beginner-friendly, with simple code patterns, clear naming, and a well-documented.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3522440" y="7349417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sz="2800" dirty="0"/>
              <a:t>Explain: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Input: Client sends file via HTTP POST /upload using MultipartFile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Processing: AESUtil encrypts file bytes using AES/CBC/PKCS5Padding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Database: FileMetadata entity stored in MySQL via FileRepository (JPA)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Output: GET /download/{id} retrieves, decrypts, and returns original file to client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BDF06BC-34D3-9516-3300-9ECD9EBE2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288" y="1480979"/>
            <a:ext cx="6509527" cy="6228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BC985-A181-D1F9-44D4-E2D844358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485900"/>
            <a:ext cx="7286625" cy="83820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B7BCAD-899E-5101-73C0-AFFEFA429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188362"/>
              </p:ext>
            </p:extLst>
          </p:nvPr>
        </p:nvGraphicFramePr>
        <p:xfrm>
          <a:off x="10029825" y="3110285"/>
          <a:ext cx="8229600" cy="20116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9217523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6240592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18401418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922560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457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Weekly Plan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872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Monthly Plan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Priority Support + AES-256 Upgrade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83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Annual Plan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24/7 Dedicated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1567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A9B81A-5B19-CA49-6FC3-8DE974108563}"/>
              </a:ext>
            </a:extLst>
          </p:cNvPr>
          <p:cNvSpPr txBox="1"/>
          <p:nvPr/>
        </p:nvSpPr>
        <p:spPr>
          <a:xfrm>
            <a:off x="10029825" y="1854376"/>
            <a:ext cx="79248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Three-Tier Subscription System:</a:t>
            </a:r>
            <a:endParaRPr lang="en-IN" dirty="0"/>
          </a:p>
          <a:p>
            <a:pPr>
              <a:buNone/>
            </a:pPr>
            <a:r>
              <a:rPr lang="en-IN" b="1" dirty="0"/>
              <a:t>Implementation:</a:t>
            </a:r>
            <a:r>
              <a:rPr lang="en-IN" dirty="0"/>
              <a:t> Dynamic payment modal for seamless upgrades and plan switching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/>
              <a:t>Frontend:</a:t>
            </a:r>
            <a:r>
              <a:rPr lang="en-IN" sz="2800" dirty="0" err="1"/>
              <a:t>HTML</a:t>
            </a:r>
            <a:r>
              <a:rPr lang="en-IN" sz="2800" dirty="0"/>
              <a:t>, CSS ,Postman (for API testing) </a:t>
            </a:r>
          </a:p>
          <a:p>
            <a:r>
              <a:rPr lang="en-IN" sz="2800" b="1" dirty="0" err="1"/>
              <a:t>Backend:</a:t>
            </a:r>
            <a:r>
              <a:rPr lang="en-IN" sz="2800" dirty="0" err="1"/>
              <a:t>Spring</a:t>
            </a:r>
            <a:r>
              <a:rPr lang="en-IN" sz="2800" dirty="0"/>
              <a:t> </a:t>
            </a:r>
            <a:r>
              <a:rPr lang="en-IN" sz="2800" dirty="0" err="1"/>
              <a:t>Boot,Java</a:t>
            </a:r>
            <a:r>
              <a:rPr lang="en-IN" sz="2800" dirty="0"/>
              <a:t> (JDK 17+) ,Spring Web (REST API) </a:t>
            </a:r>
          </a:p>
          <a:p>
            <a:r>
              <a:rPr lang="en-IN" sz="2800" b="1" dirty="0" err="1"/>
              <a:t>Database:</a:t>
            </a:r>
            <a:r>
              <a:rPr lang="en-IN" sz="2800" dirty="0" err="1"/>
              <a:t>MySQL</a:t>
            </a:r>
            <a:r>
              <a:rPr lang="en-IN" sz="2800" dirty="0"/>
              <a:t> </a:t>
            </a:r>
          </a:p>
          <a:p>
            <a:r>
              <a:rPr lang="en-IN" sz="2800" b="1" dirty="0" err="1"/>
              <a:t>Tools:</a:t>
            </a:r>
            <a:r>
              <a:rPr lang="en-IN" sz="2800" dirty="0" err="1"/>
              <a:t>Postman,IntelliJ</a:t>
            </a:r>
            <a:r>
              <a:rPr lang="en-IN" sz="2800" dirty="0"/>
              <a:t> IDEA / </a:t>
            </a:r>
            <a:r>
              <a:rPr lang="en-IN" sz="2800" dirty="0" err="1"/>
              <a:t>Eclipse,Maven</a:t>
            </a:r>
            <a:r>
              <a:rPr lang="en-IN" sz="2800" dirty="0"/>
              <a:t> (build tool) </a:t>
            </a:r>
          </a:p>
          <a:p>
            <a:endParaRPr lang="en-IN" sz="2800" b="1" dirty="0"/>
          </a:p>
          <a:p>
            <a:r>
              <a:rPr lang="en-IN" sz="2800" b="1" dirty="0"/>
              <a:t>Hardware:</a:t>
            </a:r>
            <a:endParaRPr lang="en-IN" sz="2800" dirty="0"/>
          </a:p>
          <a:p>
            <a:r>
              <a:rPr lang="en-IN" sz="2800" dirty="0"/>
              <a:t>Minimum 4GB RAM </a:t>
            </a:r>
          </a:p>
          <a:p>
            <a:r>
              <a:rPr lang="en-IN" sz="2800" dirty="0"/>
              <a:t>Laptop/Desktop System </a:t>
            </a:r>
          </a:p>
          <a:p>
            <a:r>
              <a:rPr lang="en-IN" sz="2800" b="1" dirty="0"/>
              <a:t>Software:</a:t>
            </a:r>
            <a:endParaRPr lang="en-IN" sz="2800" dirty="0"/>
          </a:p>
          <a:p>
            <a:r>
              <a:rPr lang="en-IN" sz="2800" dirty="0"/>
              <a:t>Java JDK 17+ </a:t>
            </a:r>
          </a:p>
          <a:p>
            <a:r>
              <a:rPr lang="en-IN" sz="2800" dirty="0"/>
              <a:t>Spring Boot </a:t>
            </a:r>
          </a:p>
          <a:p>
            <a:r>
              <a:rPr lang="en-IN" sz="2800" dirty="0"/>
              <a:t>MySQL </a:t>
            </a:r>
          </a:p>
          <a:p>
            <a:r>
              <a:rPr lang="en-IN" sz="2800" dirty="0"/>
              <a:t>IntelliJ / Eclipse IDE </a:t>
            </a:r>
          </a:p>
          <a:p>
            <a:r>
              <a:rPr lang="en-IN" sz="2800" dirty="0"/>
              <a:t>Postman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solidFill>
                  <a:srgbClr val="FF0000"/>
                </a:solidFill>
              </a:rPr>
              <a:t>Module-wise breakdown of CryptoVault system:</a:t>
            </a:r>
          </a:p>
          <a:p>
            <a:endParaRPr lang="en-IN" sz="2800" b="1" dirty="0"/>
          </a:p>
          <a:p>
            <a:r>
              <a:rPr lang="en-IN" sz="2800" b="1" dirty="0"/>
              <a:t>Module 1: File Upload Module</a:t>
            </a:r>
          </a:p>
          <a:p>
            <a:r>
              <a:rPr lang="en-IN" sz="2800" dirty="0"/>
              <a:t>Accepts MultipartFile via POST /upload, passes bytes to FileService for AES encryption and local disk storage.</a:t>
            </a:r>
          </a:p>
          <a:p>
            <a:r>
              <a:rPr lang="en-IN" sz="2800" b="1" dirty="0"/>
              <a:t>Module 2: AES Encryption/Decryption Utility</a:t>
            </a:r>
          </a:p>
          <a:p>
            <a:r>
              <a:rPr lang="en-IN" sz="2800" dirty="0"/>
              <a:t>AESUtil class uses javax.crypto with AES/ECB mode and a 16-byte secret key for encrypt() and decrypt() methods.</a:t>
            </a:r>
          </a:p>
          <a:p>
            <a:r>
              <a:rPr lang="en-IN" sz="2800" b="1" dirty="0"/>
              <a:t>Module 3: Metadata Management Module</a:t>
            </a:r>
          </a:p>
          <a:p>
            <a:r>
              <a:rPr lang="en-IN" sz="2800" dirty="0"/>
              <a:t>FileMetadata JPA entity and FileRepository (extends JpaRepository) persist and retrieve file info in MySQL.</a:t>
            </a:r>
          </a:p>
          <a:p>
            <a:r>
              <a:rPr lang="en-IN" sz="2800" b="1" dirty="0"/>
              <a:t>Module 4: File Download Module</a:t>
            </a:r>
          </a:p>
          <a:p>
            <a:r>
              <a:rPr lang="en-IN" sz="2800" dirty="0"/>
              <a:t>GET /download/{id} retrieves metadata by ID, reads encrypted file from disk, decrypts it, returns original file.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C8DFC-737F-8653-E608-673568E23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986" y="1488582"/>
            <a:ext cx="15439998" cy="730983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C140887-9820-1DE7-D045-3A25093D0D44}"/>
              </a:ext>
            </a:extLst>
          </p:cNvPr>
          <p:cNvSpPr txBox="1"/>
          <p:nvPr/>
        </p:nvSpPr>
        <p:spPr>
          <a:xfrm>
            <a:off x="2446012" y="9003782"/>
            <a:ext cx="148132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public landing page that introduces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CryptoVault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visitors. It shows the project description, features, and the creator Jevin, with buttons to Login or Register.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CE22AF-5536-2210-DC34-D6D117A8B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472826"/>
            <a:ext cx="4572000" cy="73050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3DE347-01F8-9DE4-54DB-25F121D686BF}"/>
              </a:ext>
            </a:extLst>
          </p:cNvPr>
          <p:cNvSpPr txBox="1"/>
          <p:nvPr/>
        </p:nvSpPr>
        <p:spPr>
          <a:xfrm>
            <a:off x="3563478" y="9120740"/>
            <a:ext cx="14209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existing users enter their username and password to access their vault. Spring Security checks the credentials against the database and grants access if correct.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56BB2-43BB-D1E2-5B93-EC2486FA5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549" y="1469119"/>
            <a:ext cx="6973355" cy="73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A98A1-BCF0-7454-4F73-87F3B3812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63" y="1579566"/>
            <a:ext cx="6318237" cy="7230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F70628-8354-976D-16E1-8470CAABD72B}"/>
              </a:ext>
            </a:extLst>
          </p:cNvPr>
          <p:cNvSpPr txBox="1"/>
          <p:nvPr/>
        </p:nvSpPr>
        <p:spPr>
          <a:xfrm>
            <a:off x="3078080" y="8980189"/>
            <a:ext cx="14209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page for logged-in users where they can upload files (which get AES-encrypted automatically) and download their own decrypted files. Each user only sees their own files.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BA8A42-0169-048E-54C4-0CB052FE0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1550390"/>
            <a:ext cx="6172200" cy="709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F866E-6A5D-3B84-A2FA-519037432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555" y="2581720"/>
            <a:ext cx="7939611" cy="21776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88DA35-628D-3080-E517-E8475350C45C}"/>
              </a:ext>
            </a:extLst>
          </p:cNvPr>
          <p:cNvSpPr txBox="1"/>
          <p:nvPr/>
        </p:nvSpPr>
        <p:spPr>
          <a:xfrm>
            <a:off x="3563478" y="8253668"/>
            <a:ext cx="14209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page where the encrypted file will be available in which for each and every users and with their login they can find out the encrypted file and decrypt it.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Security: AES encryption ensures that even if files are accessed from disk, they are unreadable without the secret key.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Architecture: Layered design (Controller/Service/Repository/Util) makes the codebase easy to understand, test, and extend.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Design: Standard HTTP endpoints make the system easy to integrate with any frontend, mobile app, or third-party service.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Metadata: MySQL database ensures reliable file tracking, even after server restarts or file system changes.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Hardcoded Secret Key: The AES key is currently hardcoded in source code; production systems should use a secure key vault or environment variable.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Authentication: The current version has no login/registration; any user with API access can upload or download files.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Only: Files are stored on the local filesystem; future versions should support cloud storage (AWS S3, Google Cloud) for scalability.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1281</Words>
  <Application>Microsoft Office PowerPoint</Application>
  <PresentationFormat>Custom</PresentationFormat>
  <Paragraphs>305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Wingdings</vt:lpstr>
      <vt:lpstr>Cambria</vt:lpstr>
      <vt:lpstr>Bookman Old Style</vt:lpstr>
      <vt:lpstr>Gotham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Edusha</dc:creator>
  <cp:lastModifiedBy>ADMIN</cp:lastModifiedBy>
  <cp:revision>17</cp:revision>
  <dcterms:created xsi:type="dcterms:W3CDTF">2006-08-16T00:00:00Z</dcterms:created>
  <dcterms:modified xsi:type="dcterms:W3CDTF">2026-04-24T09:06:43Z</dcterms:modified>
  <dc:identifier>DAHCaYqJ9OU</dc:identifier>
</cp:coreProperties>
</file>